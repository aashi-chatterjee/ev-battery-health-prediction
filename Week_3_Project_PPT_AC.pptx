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580794" y="2262673"/>
            <a:ext cx="6870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bg1"/>
                </a:solidFill>
              </a:rPr>
              <a:t>Feature-Driven RUL Forecasting for Lithium-Ion Batteries Using </a:t>
            </a:r>
            <a:r>
              <a:rPr lang="en-US" sz="3600" dirty="0" err="1">
                <a:solidFill>
                  <a:schemeClr val="bg1"/>
                </a:solidFill>
              </a:rPr>
              <a:t>dQ</a:t>
            </a:r>
            <a:r>
              <a:rPr lang="en-US" sz="3600" dirty="0">
                <a:solidFill>
                  <a:schemeClr val="bg1"/>
                </a:solidFill>
              </a:rPr>
              <a:t>/</a:t>
            </a:r>
            <a:r>
              <a:rPr lang="en-US" sz="3600" dirty="0" err="1">
                <a:solidFill>
                  <a:schemeClr val="bg1"/>
                </a:solidFill>
              </a:rPr>
              <a:t>dV</a:t>
            </a:r>
            <a:r>
              <a:rPr lang="en-US" sz="3600" dirty="0">
                <a:solidFill>
                  <a:schemeClr val="bg1"/>
                </a:solidFill>
              </a:rPr>
              <a:t> Analysis</a:t>
            </a:r>
            <a:endParaRPr lang="en-US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04144B-5E0E-C181-1F36-442D674635EB}"/>
              </a:ext>
            </a:extLst>
          </p:cNvPr>
          <p:cNvSpPr txBox="1"/>
          <p:nvPr/>
        </p:nvSpPr>
        <p:spPr>
          <a:xfrm>
            <a:off x="4976051" y="4371047"/>
            <a:ext cx="5409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Google Sans Text"/>
              </a:rPr>
              <a:t>By Aashi Chatterjee</a:t>
            </a:r>
          </a:p>
          <a:p>
            <a:r>
              <a:rPr lang="en-IN" sz="2400" dirty="0">
                <a:solidFill>
                  <a:schemeClr val="bg1"/>
                </a:solidFill>
                <a:latin typeface="Google Sans Text"/>
              </a:rPr>
              <a:t>AICTE Internship ID: INTERNSHIP_175683301568b724f7b9fba</a:t>
            </a: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597744" y="1143465"/>
            <a:ext cx="3936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Learning Objectives</a:t>
            </a:r>
            <a:endParaRPr lang="en-IN" sz="28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C14BE-5D33-8812-EE30-4C5F14B7350C}"/>
              </a:ext>
            </a:extLst>
          </p:cNvPr>
          <p:cNvSpPr txBox="1"/>
          <p:nvPr/>
        </p:nvSpPr>
        <p:spPr>
          <a:xfrm>
            <a:off x="709125" y="1845086"/>
            <a:ext cx="611155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Understand the EV battery domain: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including how lithium-ion batteries degrade, why RUL matters, and what real-world challenges EV systems face.</a:t>
            </a:r>
          </a:p>
          <a:p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Identify and define a meaningful problem statement: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by analyzing gaps in battery health monitoring and selecting a research-worthy challenge.</a:t>
            </a:r>
          </a:p>
          <a:p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Translate the problem into a machine learning direction: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by selecting relevant health indicators (like 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dQ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/</a:t>
            </a:r>
            <a:r>
              <a:rPr lang="en-US" altLang="en-US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dV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) and designing an appropriate model approach.</a:t>
            </a:r>
          </a:p>
          <a:p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Implement and evaluate an ML solution: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using feature engineering, time-series modeling, and validation metrics to test the problem statement in practice.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94997" y="930030"/>
            <a:ext cx="5191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Tools</a:t>
            </a:r>
            <a:r>
              <a:rPr lang="en-IN" sz="28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D8AB6-8DB6-2B71-18E8-9E433082AE04}"/>
              </a:ext>
            </a:extLst>
          </p:cNvPr>
          <p:cNvSpPr txBox="1"/>
          <p:nvPr/>
        </p:nvSpPr>
        <p:spPr>
          <a:xfrm>
            <a:off x="394997" y="1548882"/>
            <a:ext cx="9028922" cy="4978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Jupyter</a:t>
            </a:r>
            <a:r>
              <a:rPr lang="en-US" b="1" dirty="0"/>
              <a:t> Notebooks/Python:</a:t>
            </a:r>
            <a:r>
              <a:rPr lang="en-US" dirty="0"/>
              <a:t> Primary environment for data exploration, feature engineering, and model training.</a:t>
            </a:r>
          </a:p>
          <a:p>
            <a:endParaRPr lang="en-US" dirty="0"/>
          </a:p>
          <a:p>
            <a:r>
              <a:rPr lang="en-US" b="1" dirty="0"/>
              <a:t>Pandas/NumPy and </a:t>
            </a:r>
            <a:r>
              <a:rPr lang="en-IN" b="1" dirty="0"/>
              <a:t>TensorFlow/</a:t>
            </a:r>
            <a:r>
              <a:rPr lang="en-IN" b="1" dirty="0" err="1"/>
              <a:t>Keras</a:t>
            </a:r>
            <a:r>
              <a:rPr lang="en-US" b="1" dirty="0"/>
              <a:t>:</a:t>
            </a:r>
            <a:r>
              <a:rPr lang="en-US" dirty="0"/>
              <a:t> Core libraries for data manipulation, numerical operations on battery data and the </a:t>
            </a:r>
            <a:r>
              <a:rPr lang="en-US" sz="1870" dirty="0">
                <a:solidFill>
                  <a:schemeClr val="tx1"/>
                </a:solidFill>
                <a:latin typeface="Arial" panose="020B0604020202020204" pitchFamily="34" charset="0"/>
              </a:rPr>
              <a:t>d</a:t>
            </a:r>
            <a:r>
              <a:rPr lang="en-US" altLang="en-US" sz="1870" dirty="0">
                <a:solidFill>
                  <a:schemeClr val="tx1"/>
                </a:solidFill>
                <a:latin typeface="Arial" panose="020B0604020202020204" pitchFamily="34" charset="0"/>
              </a:rPr>
              <a:t>eep learning framework used to build and train the prediction model.</a:t>
            </a:r>
          </a:p>
          <a:p>
            <a:endParaRPr lang="en-US" altLang="en-US" sz="187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b="1" dirty="0"/>
              <a:t>Scikit-learn:</a:t>
            </a:r>
            <a:r>
              <a:rPr lang="en-US" dirty="0"/>
              <a:t> Used for data splitting, scaling, and general machine learning utilities.</a:t>
            </a:r>
          </a:p>
          <a:p>
            <a:endParaRPr lang="en-US" dirty="0"/>
          </a:p>
          <a:p>
            <a:r>
              <a:rPr lang="en-US" b="1" dirty="0"/>
              <a:t>Ollama:</a:t>
            </a:r>
            <a:r>
              <a:rPr lang="en-US" dirty="0"/>
              <a:t> Local large language model (LLM) serving platform used to host the chatbot.</a:t>
            </a:r>
          </a:p>
          <a:p>
            <a:endParaRPr lang="en-US" dirty="0"/>
          </a:p>
          <a:p>
            <a:r>
              <a:rPr lang="en-US" b="1" dirty="0" err="1"/>
              <a:t>Streamlit</a:t>
            </a:r>
            <a:r>
              <a:rPr lang="en-US" b="1" dirty="0"/>
              <a:t>:</a:t>
            </a:r>
            <a:r>
              <a:rPr lang="en-US" dirty="0"/>
              <a:t> Python framework used to build and deploy the interactive web-based frontend/dashboard.</a:t>
            </a:r>
          </a:p>
          <a:p>
            <a:endParaRPr lang="en-US" dirty="0"/>
          </a:p>
          <a:p>
            <a:r>
              <a:rPr lang="en-US" b="1" dirty="0"/>
              <a:t>Requests:</a:t>
            </a:r>
            <a:r>
              <a:rPr lang="en-US" dirty="0"/>
              <a:t> Python library used for communication between the </a:t>
            </a:r>
            <a:r>
              <a:rPr lang="en-US" dirty="0" err="1"/>
              <a:t>Streamlit</a:t>
            </a:r>
            <a:r>
              <a:rPr lang="en-US" dirty="0"/>
              <a:t> frontend and the Ollama API backend.</a:t>
            </a:r>
            <a:endParaRPr lang="en-IN" dirty="0"/>
          </a:p>
        </p:txBody>
      </p:sp>
      <p:pic>
        <p:nvPicPr>
          <p:cNvPr id="2053" name="Picture 5" descr="Project Jupyter - Wikipedia">
            <a:extLst>
              <a:ext uri="{FF2B5EF4-FFF2-40B4-BE49-F238E27FC236}">
                <a16:creationId xmlns:a16="http://schemas.microsoft.com/office/drawing/2014/main" id="{A5F73744-1439-0D80-F897-9FA163452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909" y="1634026"/>
            <a:ext cx="954541" cy="110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pandas - NumFOCUS">
            <a:extLst>
              <a:ext uri="{FF2B5EF4-FFF2-40B4-BE49-F238E27FC236}">
                <a16:creationId xmlns:a16="http://schemas.microsoft.com/office/drawing/2014/main" id="{5F67C496-D28E-D04D-044C-314FD9958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957" y="2024732"/>
            <a:ext cx="1106714" cy="110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NumPy - NumFOCUS">
            <a:extLst>
              <a:ext uri="{FF2B5EF4-FFF2-40B4-BE49-F238E27FC236}">
                <a16:creationId xmlns:a16="http://schemas.microsoft.com/office/drawing/2014/main" id="{F923E688-DB5D-B62F-806A-80879BCFB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7243" y="2740740"/>
            <a:ext cx="1106714" cy="110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TensorFlow - Wikipedia">
            <a:extLst>
              <a:ext uri="{FF2B5EF4-FFF2-40B4-BE49-F238E27FC236}">
                <a16:creationId xmlns:a16="http://schemas.microsoft.com/office/drawing/2014/main" id="{4ACB7A10-BFDF-5964-B05D-E5AA33B4C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7780" y="3131445"/>
            <a:ext cx="1731548" cy="110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 descr="GitHub - scikit-learn/scikit-learn: scikit-learn: machine learning in Python">
            <a:extLst>
              <a:ext uri="{FF2B5EF4-FFF2-40B4-BE49-F238E27FC236}">
                <a16:creationId xmlns:a16="http://schemas.microsoft.com/office/drawing/2014/main" id="{19B20A41-5839-6382-1BAE-302F8AACF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28" y="4166876"/>
            <a:ext cx="1270107" cy="78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5" name="Picture 17" descr="ollama (@ollama) / Posts / X">
            <a:extLst>
              <a:ext uri="{FF2B5EF4-FFF2-40B4-BE49-F238E27FC236}">
                <a16:creationId xmlns:a16="http://schemas.microsoft.com/office/drawing/2014/main" id="{ED24E79A-CD35-C8F0-2D81-F6F4BED55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3957" y="4314370"/>
            <a:ext cx="1106715" cy="110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7" name="Picture 19" descr="Brand • Streamlit">
            <a:extLst>
              <a:ext uri="{FF2B5EF4-FFF2-40B4-BE49-F238E27FC236}">
                <a16:creationId xmlns:a16="http://schemas.microsoft.com/office/drawing/2014/main" id="{B6A998C2-1C54-D02E-3447-FDB369E89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893" y="5223435"/>
            <a:ext cx="1891661" cy="110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762879" y="893358"/>
            <a:ext cx="28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Methodology</a:t>
            </a:r>
            <a:r>
              <a:rPr lang="en-US" sz="2000" b="1" u="sng" dirty="0">
                <a:solidFill>
                  <a:srgbClr val="213163"/>
                </a:solidFill>
              </a:rPr>
              <a:t> </a:t>
            </a:r>
            <a:endParaRPr lang="en-IN" sz="2000" u="sng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19BFC-C942-22D7-21EF-C32A09697191}"/>
              </a:ext>
            </a:extLst>
          </p:cNvPr>
          <p:cNvSpPr txBox="1"/>
          <p:nvPr/>
        </p:nvSpPr>
        <p:spPr>
          <a:xfrm>
            <a:off x="964163" y="1556537"/>
            <a:ext cx="102636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Data Acquisition &amp; Preprocessing: </a:t>
            </a:r>
            <a:r>
              <a:rPr lang="en-US" sz="1800" dirty="0">
                <a:latin typeface="Google Sans Text"/>
              </a:rPr>
              <a:t>Collect raw Li-ion battery cycling data and clean it using filtering, smoothing, and alignment techniques to prepare for feature extraction.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latin typeface="Google Sans Tex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oogle Sans"/>
              </a:rPr>
              <a:t>Feature Engineering (</a:t>
            </a:r>
            <a:r>
              <a:rPr lang="en-US" altLang="en-US" sz="1800" b="1" dirty="0" err="1">
                <a:solidFill>
                  <a:schemeClr val="tx1"/>
                </a:solidFill>
                <a:latin typeface="Google Sans Text"/>
              </a:rPr>
              <a:t>dQ</a:t>
            </a:r>
            <a:r>
              <a:rPr lang="en-US" altLang="en-US" sz="1800" b="1" dirty="0">
                <a:solidFill>
                  <a:schemeClr val="tx1"/>
                </a:solidFill>
                <a:latin typeface="Google Sans Text"/>
              </a:rPr>
              <a:t>/</a:t>
            </a:r>
            <a:r>
              <a:rPr lang="en-US" altLang="en-US" sz="1800" b="1" dirty="0" err="1">
                <a:solidFill>
                  <a:schemeClr val="tx1"/>
                </a:solidFill>
                <a:latin typeface="Google Sans Text"/>
              </a:rPr>
              <a:t>dV</a:t>
            </a:r>
            <a:r>
              <a:rPr lang="en-US" altLang="en-US" sz="1800" b="1" dirty="0">
                <a:solidFill>
                  <a:schemeClr val="tx1"/>
                </a:solidFill>
                <a:latin typeface="Google Sans"/>
              </a:rPr>
              <a:t> Analysis): 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Transform the noisy charge/discharge curves into physics-based, degradation-sensitive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dQ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/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dV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 feature vectors using interpolation and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Savitzky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-Golay signal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Google Sans Tex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oogle Sans"/>
              </a:rPr>
              <a:t>Model Selection &amp; Architecture Design: 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A sequence-learning approach was chosen, and a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BiLSTM</a:t>
            </a:r>
            <a:r>
              <a:rPr lang="en-US" altLang="en-US" sz="1800" b="1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model was configured to effectively capture and utilize long-term, bidirectional dependencies in the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dQ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/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dV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 sequences for trend forecasting.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Google Sans Text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Google Sans"/>
              </a:rPr>
              <a:t>Model Training &amp; Validation: 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The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BiLSTM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 was trained on the 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dQ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/</a:t>
            </a:r>
            <a:r>
              <a:rPr lang="en-US" altLang="en-US" sz="1800" dirty="0" err="1">
                <a:solidFill>
                  <a:schemeClr val="tx1"/>
                </a:solidFill>
                <a:latin typeface="Google Sans Text"/>
              </a:rPr>
              <a:t>dV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 sequences and rigorously evaluated on unseen data using the RMSE (capacity accuracy) and RUL</a:t>
            </a:r>
            <a:r>
              <a:rPr lang="en-US" altLang="en-US" sz="1800" b="1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Google Sans Text"/>
              </a:rPr>
              <a:t>error (lifetime accuracy) to ensure robust predictive performance.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dirty="0"/>
              <a:t>Result Interpretation &amp; Constraint Verification: </a:t>
            </a:r>
            <a:r>
              <a:rPr lang="en-US" sz="1800" dirty="0">
                <a:latin typeface="Google Sans Text"/>
              </a:rPr>
              <a:t>Prediction behavior was analyzed and integrated into an LLM-supported conversational layer to interpret results and formally validate that explanations adhere strictly to defined project constraints.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933114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Problem Statement:  </a:t>
            </a:r>
            <a:endParaRPr lang="en-IN" sz="28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698548-8F2E-7F8C-9E97-E714ACA7DED8}"/>
              </a:ext>
            </a:extLst>
          </p:cNvPr>
          <p:cNvSpPr txBox="1"/>
          <p:nvPr/>
        </p:nvSpPr>
        <p:spPr>
          <a:xfrm>
            <a:off x="6295054" y="1554701"/>
            <a:ext cx="52437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1800" dirty="0">
                <a:solidFill>
                  <a:schemeClr val="tx1"/>
                </a:solidFill>
              </a:rPr>
              <a:t>1. This project addresses this by </a:t>
            </a:r>
            <a:r>
              <a:rPr lang="en-US" altLang="en-US" sz="1800" b="1" dirty="0">
                <a:solidFill>
                  <a:schemeClr val="tx1"/>
                </a:solidFill>
              </a:rPr>
              <a:t>establishing a robust RUL prediction framework</a:t>
            </a:r>
            <a:r>
              <a:rPr lang="en-US" altLang="en-US" sz="1800" dirty="0">
                <a:solidFill>
                  <a:schemeClr val="tx1"/>
                </a:solidFill>
              </a:rPr>
              <a:t> that leverages the physical insights derived from </a:t>
            </a:r>
            <a:r>
              <a:rPr lang="en-US" altLang="en-US" sz="1800" dirty="0" err="1">
                <a:solidFill>
                  <a:schemeClr val="tx1"/>
                </a:solidFill>
              </a:rPr>
              <a:t>dQ</a:t>
            </a:r>
            <a:r>
              <a:rPr lang="en-US" altLang="en-US" sz="1800" dirty="0">
                <a:solidFill>
                  <a:schemeClr val="tx1"/>
                </a:solidFill>
              </a:rPr>
              <a:t>/</a:t>
            </a:r>
            <a:r>
              <a:rPr lang="en-US" altLang="en-US" sz="1800" dirty="0" err="1">
                <a:solidFill>
                  <a:schemeClr val="tx1"/>
                </a:solidFill>
              </a:rPr>
              <a:t>dV</a:t>
            </a:r>
            <a:r>
              <a:rPr lang="en-US" altLang="en-US" sz="1800" dirty="0">
                <a:solidFill>
                  <a:schemeClr val="tx1"/>
                </a:solidFill>
              </a:rPr>
              <a:t> curve features to train a predictive model with superior generalization capability.</a:t>
            </a:r>
          </a:p>
          <a:p>
            <a:pPr algn="just"/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2. From there, we 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develop and validate a </a:t>
            </a:r>
            <a:r>
              <a:rPr lang="en-US" altLang="en-US" sz="1800" b="1" dirty="0" err="1">
                <a:solidFill>
                  <a:schemeClr val="tx1"/>
                </a:solidFill>
                <a:latin typeface="+mn-lt"/>
              </a:rPr>
              <a:t>BiLSTM</a:t>
            </a:r>
            <a:r>
              <a:rPr lang="en-US" altLang="en-US" sz="1800" b="1" dirty="0">
                <a:solidFill>
                  <a:schemeClr val="tx1"/>
                </a:solidFill>
                <a:latin typeface="+mn-lt"/>
              </a:rPr>
              <a:t> deep learning model</a:t>
            </a:r>
            <a:r>
              <a:rPr lang="en-US" altLang="en-US" sz="1800" dirty="0">
                <a:solidFill>
                  <a:schemeClr val="tx1"/>
                </a:solidFill>
              </a:rPr>
              <a:t> that uses sequence-based 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dQ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/</a:t>
            </a:r>
            <a:r>
              <a:rPr lang="en-US" altLang="en-US" sz="1800" dirty="0" err="1">
                <a:solidFill>
                  <a:schemeClr val="tx1"/>
                </a:solidFill>
                <a:latin typeface="+mn-lt"/>
              </a:rPr>
              <a:t>dV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</a:rPr>
              <a:t>feature analysis to achieve a more precise and earlier RUL forecast than traditional methods.</a:t>
            </a:r>
          </a:p>
          <a:p>
            <a:pPr algn="just"/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sz="1800" dirty="0"/>
              <a:t>3. We then introduce an intelligent RUL prediction system supported by an </a:t>
            </a:r>
            <a:r>
              <a:rPr lang="en-US" sz="1800" b="1" dirty="0"/>
              <a:t>LLM-powered chatbot </a:t>
            </a:r>
            <a:r>
              <a:rPr lang="en-US" sz="1800" dirty="0"/>
              <a:t>that explains battery health and model behavior in simple, on-demand language for non-experts.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81346B-FA0C-7E2B-7383-7BC441887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1582"/>
            <a:ext cx="184731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ADB17-7B68-CD2E-CBF6-6BDD22D717A6}"/>
              </a:ext>
            </a:extLst>
          </p:cNvPr>
          <p:cNvSpPr txBox="1"/>
          <p:nvPr/>
        </p:nvSpPr>
        <p:spPr>
          <a:xfrm>
            <a:off x="255104" y="1554701"/>
            <a:ext cx="5324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1. The central challenge in predicting the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Remaining Useful Life (RUL) of Lithium-ion batteries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lies in accurately modeling the non-linear, temporal decay inherent in the data. </a:t>
            </a:r>
            <a:endParaRPr lang="en-US" altLang="en-US" sz="1800" dirty="0">
              <a:solidFill>
                <a:schemeClr val="tx1"/>
              </a:solidFill>
              <a:latin typeface="+mn-lt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 dirty="0">
              <a:solidFill>
                <a:schemeClr val="tx1"/>
              </a:solidFill>
              <a:latin typeface="+mn-lt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2. Current data-driven RUL forecasting methods often suffer from </a:t>
            </a:r>
            <a:r>
              <a:rPr lang="en-US" altLang="en-US" sz="1800" b="1" dirty="0">
                <a:solidFill>
                  <a:schemeClr val="tx1"/>
                </a:solidFill>
                <a:latin typeface="+mn-lt"/>
              </a:rPr>
              <a:t>reliance on noisy capacity data</a:t>
            </a:r>
            <a:r>
              <a:rPr lang="en-US" altLang="en-US" sz="1800" dirty="0">
                <a:solidFill>
                  <a:schemeClr val="tx1"/>
                </a:solidFill>
                <a:latin typeface="+mn-lt"/>
              </a:rPr>
              <a:t>, creating a need for a more chemically informed approach.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/>
              </a:solidFill>
              <a:latin typeface="+mn-lt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3. There is a need for a </a:t>
            </a:r>
            <a:r>
              <a:rPr lang="en-US" sz="1800" b="1" dirty="0"/>
              <a:t>deployable RUL prediction system</a:t>
            </a:r>
            <a:r>
              <a:rPr lang="en-US" sz="1800" dirty="0"/>
              <a:t> that provides reliable real-time forecasts and explains its decisions in </a:t>
            </a:r>
            <a:r>
              <a:rPr lang="en-US" sz="1800" b="1" dirty="0"/>
              <a:t>simple natural language</a:t>
            </a:r>
            <a:r>
              <a:rPr lang="en-US" sz="1800" dirty="0"/>
              <a:t>, making it accessible to engineers without deep technical expertise.</a:t>
            </a:r>
            <a:endParaRPr lang="en-US" altLang="en-US" sz="18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0FFF6-E810-BE2E-A52F-E98216D79EBB}"/>
              </a:ext>
            </a:extLst>
          </p:cNvPr>
          <p:cNvSpPr txBox="1"/>
          <p:nvPr/>
        </p:nvSpPr>
        <p:spPr>
          <a:xfrm>
            <a:off x="6357730" y="933114"/>
            <a:ext cx="2217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Solution:</a:t>
            </a:r>
            <a:endParaRPr lang="en-IN" sz="28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3F290E-C15C-AF5E-2A4B-174CC026BB46}"/>
              </a:ext>
            </a:extLst>
          </p:cNvPr>
          <p:cNvCxnSpPr>
            <a:cxnSpLocks/>
          </p:cNvCxnSpPr>
          <p:nvPr/>
        </p:nvCxnSpPr>
        <p:spPr>
          <a:xfrm>
            <a:off x="5896947" y="849086"/>
            <a:ext cx="0" cy="563569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Screenshot of Output:  </a:t>
            </a:r>
            <a:endParaRPr lang="en-IN" sz="2800" b="1" dirty="0">
              <a:solidFill>
                <a:srgbClr val="213163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8429B5-ADA3-422B-0BD2-4AA10EC7E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3" y="1716780"/>
            <a:ext cx="6885213" cy="429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3C5AA-0E3E-7D16-6DEB-08A119C79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986" y="1976383"/>
            <a:ext cx="4795579" cy="377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412B1-DE52-4081-A3DB-4D263A25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1" y="897416"/>
            <a:ext cx="5129737" cy="5764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6E5278-5E6F-947B-DAD8-14AE067B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82" b="1"/>
          <a:stretch>
            <a:fillRect/>
          </a:stretch>
        </p:blipFill>
        <p:spPr>
          <a:xfrm>
            <a:off x="5783761" y="1428421"/>
            <a:ext cx="6126809" cy="47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9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348410" y="951775"/>
            <a:ext cx="5840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Limitations:  </a:t>
            </a:r>
            <a:endParaRPr lang="en-IN" sz="28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46DE2A-9FB1-3405-4DCA-7D74FF615DC6}"/>
              </a:ext>
            </a:extLst>
          </p:cNvPr>
          <p:cNvSpPr txBox="1"/>
          <p:nvPr/>
        </p:nvSpPr>
        <p:spPr>
          <a:xfrm>
            <a:off x="255104" y="1586257"/>
            <a:ext cx="58408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Model trained only on a small, homogeneous NASA dataset (single chemistry + controlled conditions), restricting generalization to other cell types, temperatures, C-rates, or manufacturers.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Despite low short-term RMSE (~0.03 Ah), the model shows a strong pessimistic RUL bias (-223 cycles), failing to capture late-life non-linear degradation behavior.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 </a:t>
            </a:r>
            <a:r>
              <a:rPr lang="en-US" sz="1600" dirty="0" err="1"/>
              <a:t>dQ</a:t>
            </a:r>
            <a:r>
              <a:rPr lang="en-US" sz="1600" dirty="0"/>
              <a:t>/</a:t>
            </a:r>
            <a:r>
              <a:rPr lang="en-US" sz="1600" dirty="0" err="1"/>
              <a:t>dV</a:t>
            </a:r>
            <a:r>
              <a:rPr lang="en-US" sz="1600" dirty="0"/>
              <a:t> feature is extremely dependent on interpolation and filtering parameters; small changes can distort feature shape and lead to unstable model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 deployed </a:t>
            </a:r>
            <a:r>
              <a:rPr lang="en-US" sz="1600" dirty="0" err="1"/>
              <a:t>Streamlit</a:t>
            </a:r>
            <a:r>
              <a:rPr lang="en-US" sz="1600" dirty="0"/>
              <a:t> model is fixed and cannot learn from new data; any change in battery type or conditions requires manual retraining and system updates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The chatbot depends heavily on constraint prompts; although restricted, it can still be vulnerable to prompt-injection attempts that may cause incorrect or unsafe technical outputs.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753A1-9AD7-22F9-93A2-FC512D5DC7FE}"/>
              </a:ext>
            </a:extLst>
          </p:cNvPr>
          <p:cNvSpPr txBox="1"/>
          <p:nvPr/>
        </p:nvSpPr>
        <p:spPr>
          <a:xfrm>
            <a:off x="6189306" y="951775"/>
            <a:ext cx="5840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Future Work:  </a:t>
            </a:r>
            <a:endParaRPr lang="en-IN" sz="2800" b="1" dirty="0">
              <a:solidFill>
                <a:srgbClr val="21316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49FDB9-161C-56A0-D786-D401F550F713}"/>
              </a:ext>
            </a:extLst>
          </p:cNvPr>
          <p:cNvSpPr txBox="1"/>
          <p:nvPr/>
        </p:nvSpPr>
        <p:spPr>
          <a:xfrm>
            <a:off x="6096000" y="1586257"/>
            <a:ext cx="54521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/>
              <a:t>Implement transfer learning by </a:t>
            </a:r>
            <a:r>
              <a:rPr lang="en-US" sz="1600" dirty="0"/>
              <a:t>Pre-training on large heterogeneous datasets, then fine-tuning on B0005–B0007 to extend applicability across chemistries and conditions.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Combine data-driven predictions with physics/empirical models (e.g., exponential decay) for more stable long-term RUL forecasts.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Use hyperparameter tuning (Grid Search/</a:t>
            </a:r>
            <a:r>
              <a:rPr lang="en-US" sz="1600" dirty="0" err="1"/>
              <a:t>Optuna</a:t>
            </a:r>
            <a:r>
              <a:rPr lang="en-US" sz="1600" dirty="0"/>
              <a:t>) to systematically optimize filtering + interpolation settings for robust feature extraction.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Move to AWS/Azure pipelines that support periodic retraining and dynamic model updates to replace the current static deployment.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Implement a Retrieval-Augmented Generation system so the LLM answers only from a secured database, preventing prompt-injection issues.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044825" y="978821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Conclusion:  </a:t>
            </a:r>
            <a:endParaRPr lang="en-IN" sz="2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739F91-9AA7-4FA6-CAFA-96F5E9D82AB9}"/>
              </a:ext>
            </a:extLst>
          </p:cNvPr>
          <p:cNvSpPr txBox="1"/>
          <p:nvPr/>
        </p:nvSpPr>
        <p:spPr>
          <a:xfrm>
            <a:off x="1827245" y="1724164"/>
            <a:ext cx="85375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dirty="0" err="1"/>
              <a:t>dQ</a:t>
            </a:r>
            <a:r>
              <a:rPr lang="en-US" sz="2000" dirty="0"/>
              <a:t>/</a:t>
            </a:r>
            <a:r>
              <a:rPr lang="en-US" sz="2000" dirty="0" err="1"/>
              <a:t>dV</a:t>
            </a:r>
            <a:r>
              <a:rPr lang="en-US" sz="2000" dirty="0"/>
              <a:t>-based approach successfully captured battery degradation, linking electrochemical behavior to capacity fade.</a:t>
            </a:r>
          </a:p>
          <a:p>
            <a:endParaRPr lang="en-US" sz="2000" dirty="0"/>
          </a:p>
          <a:p>
            <a:r>
              <a:rPr lang="en-US" sz="2000" dirty="0"/>
              <a:t>The </a:t>
            </a:r>
            <a:r>
              <a:rPr lang="en-US" sz="2000" dirty="0" err="1"/>
              <a:t>BiLSTM</a:t>
            </a:r>
            <a:r>
              <a:rPr lang="en-US" sz="2000" dirty="0"/>
              <a:t> handled sequential patterns well, achieving a strong validation RMSE of ~0.03 Ah.</a:t>
            </a:r>
          </a:p>
          <a:p>
            <a:endParaRPr lang="en-US" sz="2000" dirty="0"/>
          </a:p>
          <a:p>
            <a:r>
              <a:rPr lang="en-US" sz="2000" dirty="0"/>
              <a:t>On unseen B18 data, the model achieved a final capacity RMSE of 0.2570</a:t>
            </a:r>
            <a:r>
              <a:rPr lang="en-US" sz="2000" b="1" dirty="0"/>
              <a:t> </a:t>
            </a:r>
            <a:r>
              <a:rPr lang="en-US" sz="2000" dirty="0"/>
              <a:t>Ah, demonstrating practical predictive capability.</a:t>
            </a:r>
          </a:p>
          <a:p>
            <a:endParaRPr lang="en-US" sz="2000" dirty="0"/>
          </a:p>
          <a:p>
            <a:r>
              <a:rPr lang="en-US" sz="2000" dirty="0"/>
              <a:t>A </a:t>
            </a:r>
            <a:r>
              <a:rPr lang="en-US" sz="2000" dirty="0" err="1"/>
              <a:t>Streamlit</a:t>
            </a:r>
            <a:r>
              <a:rPr lang="en-US" sz="2000" dirty="0"/>
              <a:t> + LLM chatbot was deployed, enabling clear, constrained, non-technical explanations of model outputs.</a:t>
            </a:r>
          </a:p>
          <a:p>
            <a:endParaRPr lang="en-US" sz="2000" dirty="0"/>
          </a:p>
          <a:p>
            <a:r>
              <a:rPr lang="en-US" sz="2000" dirty="0"/>
              <a:t>Future work includes Transfer Learning and Hybrid Modeling to reduce long-term RUL bias and improve generalization to broader battery datasets.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1098</TotalTime>
  <Words>971</Words>
  <Application>Microsoft Office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Google Sans</vt:lpstr>
      <vt:lpstr>Google Sans Text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Aashi Chatterjee</cp:lastModifiedBy>
  <cp:revision>8</cp:revision>
  <dcterms:created xsi:type="dcterms:W3CDTF">2024-12-31T09:40:01Z</dcterms:created>
  <dcterms:modified xsi:type="dcterms:W3CDTF">2025-11-17T15:38:47Z</dcterms:modified>
</cp:coreProperties>
</file>